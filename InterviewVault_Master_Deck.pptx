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53" y="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686800" y="-1371600"/>
            <a:ext cx="5486400" cy="54864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09760" y="-548640"/>
            <a:ext cx="3840480" cy="384048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509760" y="-548640"/>
            <a:ext cx="3840480" cy="384048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64008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777240"/>
            <a:ext cx="73152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 dirty="0">
                <a:solidFill>
                  <a:srgbClr val="A855F7"/>
                </a:solidFill>
                <a:latin typeface="Calibri"/>
              </a:rPr>
              <a:t>INTERVIEWVAULT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789920" cy="7191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sz="4400" b="1" i="0" dirty="0">
                <a:solidFill>
                  <a:srgbClr val="F1F5F9"/>
                </a:solidFill>
                <a:latin typeface="Calibri"/>
              </a:rPr>
              <a:t>INTERVIEW VAULT</a:t>
            </a:r>
            <a:endParaRPr sz="4400" b="1" i="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789920" cy="154503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An Intelligent Framework for Interview Preparation with Real-Time Interview Assessment and Personalized Content Generation based on Adaptive Learning Path</a:t>
            </a:r>
          </a:p>
          <a:p>
            <a:br>
              <a:rPr lang="en-IN" dirty="0">
                <a:solidFill>
                  <a:schemeClr val="bg1"/>
                </a:solidFill>
              </a:rPr>
            </a:br>
            <a:endParaRPr sz="44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39"/>
            <a:ext cx="10058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94A3B8"/>
                </a:solidFill>
                <a:latin typeface="Calibri"/>
              </a:rPr>
              <a:t>Adaptive, gamified, role-aware interview preparation that emulates a real end-to-end interview.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572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Adaptive Diagnostics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04288" y="4572000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Socratic Follow-ups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13632" y="457200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Company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572000"/>
            <a:ext cx="1499616" cy="292608"/>
          </a:xfrm>
          <a:prstGeom prst="roundRect">
            <a:avLst>
              <a:gd name="adj" fmla="val 50000"/>
            </a:avLst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Body-Language Aware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4572000"/>
            <a:ext cx="1609344" cy="292608"/>
          </a:xfrm>
          <a:prstGeom prst="roundRect">
            <a:avLst>
              <a:gd name="adj" fmla="val 50000"/>
            </a:avLst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000" b="1">
                <a:solidFill>
                  <a:srgbClr val="F1F5F9"/>
                </a:solidFill>
                <a:latin typeface="Calibri"/>
              </a:rPr>
              <a:t>Per-User Skill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Advanced technical overview  ·  System architecture · Methodologies · Tech stack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01 · PROBLEM STATEMENTS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Interview prep is broken — and it's costing real careers.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611880" cy="19202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" cy="19202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1F5F9"/>
                </a:solidFill>
                <a:latin typeface="Calibri"/>
              </a:rPr>
              <a:t>Generic content overload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LeetCode + YouTube + blogs ≠ a personalized path. Learners drown in content with no signal on what they actually need.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94560"/>
            <a:ext cx="3611880" cy="19202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194560"/>
            <a:ext cx="64008" cy="1920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37744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1F5F9"/>
                </a:solidFill>
                <a:latin typeface="Calibri"/>
              </a:rPr>
              <a:t>No feedback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74320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Practice without diagnosis. Users repeat the same mistakes for weeks and don't know which topics are dragging them down.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194560"/>
            <a:ext cx="3611880" cy="19202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194560"/>
            <a:ext cx="64008" cy="19202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237744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1F5F9"/>
                </a:solidFill>
                <a:latin typeface="Calibri"/>
              </a:rPr>
              <a:t>Mock interviews are theatre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743200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Most tools fire random questions. They ignore the candidate's weaknesses, the role, and the target company's interview style.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79392"/>
            <a:ext cx="3611880" cy="19202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4279392"/>
            <a:ext cx="64008" cy="192024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46227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1F5F9"/>
                </a:solidFill>
                <a:latin typeface="Calibri"/>
              </a:rPr>
              <a:t>Non-technical signals ignored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28032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Body language, eye contact, voice pace, filler words and fluency all matter — but no platform measures them.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4279392"/>
            <a:ext cx="3611880" cy="19202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89120" y="4279392"/>
            <a:ext cx="64008" cy="1920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446227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1F5F9"/>
                </a:solidFill>
                <a:latin typeface="Calibri"/>
              </a:rPr>
              <a:t>Company-specific prep is manual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4828032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Glassdoor → blog → LinkedIn → Reddit. Hours of scavenging, with no synthesis into an actionable study plan.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4279392"/>
            <a:ext cx="3611880" cy="19202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4279392"/>
            <a:ext cx="64008" cy="19202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446227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1F5F9"/>
                </a:solidFill>
                <a:latin typeface="Calibri"/>
              </a:rPr>
              <a:t>Time-pressure scenarios unsupported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28032"/>
            <a:ext cx="329184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Interview in 24 hours? In a week? Existing tools don't re-rank or compress the syllabus to the time available.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Problem Statements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02 ·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What InterviewVault actually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6400800" cy="22860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1F5F9"/>
                </a:solidFill>
                <a:latin typeface="Calibri"/>
              </a:rPr>
              <a:t>An adaptive, role-aware coach that gets smarter every time you engage with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6400800" cy="2011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Every user gets a personalized syllabus, diagnostic-driven weaknesses, Socratic follow-ups, company-specific prep, and an interview that mirrors the real thing — technical, behavioral, communication, and body language.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2103120"/>
            <a:ext cx="411480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06640" y="2103120"/>
            <a:ext cx="64008" cy="9601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0" y="2267712"/>
            <a:ext cx="3749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Personalized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06040"/>
            <a:ext cx="3749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Path tailored to role + diagnostic weak spots.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3172968"/>
            <a:ext cx="411480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6640" y="3172968"/>
            <a:ext cx="64008" cy="9601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80960" y="3337560"/>
            <a:ext cx="3749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Adaptive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3675888"/>
            <a:ext cx="3749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Difficulty + topics rebalance after every activity.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4242816"/>
            <a:ext cx="411480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0" y="4242816"/>
            <a:ext cx="64008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0" y="4407408"/>
            <a:ext cx="3749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Holistic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745736"/>
            <a:ext cx="3749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Tech + behavioral + body + voice scored together.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5312664"/>
            <a:ext cx="411480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06640" y="5312664"/>
            <a:ext cx="64008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5477256"/>
            <a:ext cx="37490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1F5F9"/>
                </a:solidFill>
                <a:latin typeface="Calibri"/>
              </a:rPr>
              <a:t>Compounding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5815584"/>
            <a:ext cx="37490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Skill vector persists; the system learns the user.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Vision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03 ·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A four-tier, AI-orchestrated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788920" cy="36576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64008" cy="36576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366F1"/>
                </a:solidFill>
                <a:latin typeface="Calibri"/>
              </a:rPr>
              <a:t>CLIENT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2816352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React 18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3227832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10896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shadcn/ui + Radix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3639312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52044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Framer 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4050792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393192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@dnd-kit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" y="4462272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34340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Recharts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4873752"/>
            <a:ext cx="82296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7548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TanStack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38728" y="2103120"/>
            <a:ext cx="2788920" cy="36576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538728" y="2103120"/>
            <a:ext cx="64008" cy="36576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67328" y="228600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API /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94760" y="2816352"/>
            <a:ext cx="82296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50208" y="26974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FastAPI (Python)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94760" y="3227832"/>
            <a:ext cx="82296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950208" y="310896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JWT Auth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3639312"/>
            <a:ext cx="82296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50208" y="352044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Role-aware routers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94760" y="4050792"/>
            <a:ext cx="82296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50208" y="393192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Assessment / Interview / Diagnostic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4462272"/>
            <a:ext cx="82296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50208" y="434340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Onboarding &amp;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4873752"/>
            <a:ext cx="82296" cy="82296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0208" y="47548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Skill Profile service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7376" y="2103120"/>
            <a:ext cx="2788920" cy="36576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37376" y="2103120"/>
            <a:ext cx="64008" cy="36576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5976" y="228600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B981"/>
                </a:solidFill>
                <a:latin typeface="Calibri"/>
              </a:rPr>
              <a:t>AI ORCHESTRATION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281635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848856" y="26974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Gemini 2.5 Flash (JSON mode)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93408" y="322783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48856" y="310896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Perplexity Sonar (live web)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93408" y="363931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848856" y="352044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Whisper (ASR)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3408" y="405079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48856" y="393192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face-api.js (gaze + landmarks)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93408" y="446227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48856" y="434340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Prompt registry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93408" y="4873752"/>
            <a:ext cx="82296" cy="822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48856" y="47548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5-pass JSON parser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36024" y="2103120"/>
            <a:ext cx="2788920" cy="36576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336024" y="2103120"/>
            <a:ext cx="64008" cy="36576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564624" y="228600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59E0B"/>
                </a:solidFill>
                <a:latin typeface="Calibri"/>
              </a:rPr>
              <a:t>DATA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92056" y="2816352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747504" y="26974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User + UserSkillProfile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592056" y="3227832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47504" y="310896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InterviewSession (transcript+report)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92056" y="3639312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747504" y="352044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CompanyInsights cache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92056" y="4050792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747504" y="393192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TopicArticle cache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92056" y="4462272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747504" y="434340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DiagnosticResult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92056" y="4873752"/>
            <a:ext cx="82296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747504" y="4754880"/>
            <a:ext cx="22402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Behavioral stats (extensible)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4A3B8"/>
                </a:solidFill>
                <a:latin typeface="Calibri"/>
              </a:rPr>
              <a:t>Data flow:  User action  →  FastAPI route  →  AI orchestration (Gemini/Perplexity)  →  Skill-profile update  →  UI re-render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System Architecture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04 ·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Service-oriented Python core, AI as a first-class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ROUTERS  (FastAPI)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660904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660904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Auth, profile, target_role, onboarding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026664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026664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/api/onboarding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081528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Role pick, resume OCR, path init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447288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502152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/api/learning-path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502152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Green/Yellow lists, drag-drop persistence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67912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3867912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922776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922776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Progressive difficulty Q gen + eval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288536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288536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343400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/api/articles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4343400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Topic articles (cached)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709160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4709160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764024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/api/assessments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764024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Quizzes + Socratic follow-up endpoint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29784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5129784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18464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/api/interview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184648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Session orchestration + transcript store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550408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5550408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5605272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/api/company-insights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5605272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Perplexity → Gemini synthesis (cached)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5971032"/>
            <a:ext cx="5303520" cy="384048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080" y="5971032"/>
            <a:ext cx="45720" cy="3840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6025896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/api/skill-profile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6025896"/>
            <a:ext cx="30175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Read/update per-topic 0–100 vector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SERVICES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2606040"/>
            <a:ext cx="5486400" cy="59436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09360" y="2606040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2670048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ai_service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2926080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Gemini wrapper, 5-pass JSON parser, prompt templates.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3264408"/>
            <a:ext cx="5486400" cy="59436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309360" y="3264408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46520" y="3328416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perplexity_service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3584448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Sonar calls for live company / role retrieval.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922776"/>
            <a:ext cx="5486400" cy="59436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309360" y="3922776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46520" y="3986784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skill_profile_service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242816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Updates topic mastery 0–100 + history after every activity.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581144"/>
            <a:ext cx="5486400" cy="59436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09360" y="4581144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46520" y="4645152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interview_engine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4901184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Picks next question from weak-topic queue + diagnostic results.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09360" y="5239512"/>
            <a:ext cx="5486400" cy="59436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6309360" y="5239512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446520" y="5303520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behavioral_engine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46520" y="5559552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Post-hoc voice + body analysis from stored stats.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60" y="5897880"/>
            <a:ext cx="5486400" cy="59436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6309360" y="5897880"/>
            <a:ext cx="45720" cy="594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446520" y="5961888"/>
            <a:ext cx="2286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onsolas"/>
              </a:rPr>
              <a:t>path_seeder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6217920"/>
            <a:ext cx="52120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Hard-coded Green paths per role + Gemini-generated Yellow set.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Backend Architecture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05 · 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A modern React stack engineered for *feel*.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743200" cy="1691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" cy="1691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359152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shadcn/ui + Radix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69748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Accessible primitives; consistent dark theme via CSS vars (--dk-*).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2194560"/>
            <a:ext cx="2743200" cy="1691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93008" y="2194560"/>
            <a:ext cx="64008" cy="169164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94176" y="2359152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Framer Motion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269748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Page transitions, layoutId shared-element, spring micro-interactions.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45936" y="2194560"/>
            <a:ext cx="2743200" cy="1691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45936" y="2194560"/>
            <a:ext cx="64008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104" y="2359152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@dnd-kit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269748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Smooth drag-and-drop for the Green/Yellow topic configurator.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98864" y="2194560"/>
            <a:ext cx="2743200" cy="1691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98864" y="2194560"/>
            <a:ext cx="64008" cy="1691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00032" y="2359152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TanStack 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00032" y="269748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Server state, cache invalidation, optimistic updates after activities.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2743200" cy="1691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023360"/>
            <a:ext cx="64008" cy="1691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187952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Recharts + SVG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52628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Skill radar, history charts, conic-gradient skill rings.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93008" y="4023360"/>
            <a:ext cx="2743200" cy="1691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93008" y="4023360"/>
            <a:ext cx="64008" cy="169164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94176" y="4187952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cmdk + react-hot-toast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94176" y="452628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Power-user command palette + clean toast notifications.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45936" y="4023360"/>
            <a:ext cx="2743200" cy="1691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345936" y="4023360"/>
            <a:ext cx="64008" cy="1691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47104" y="4187952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react-markdown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52628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Renders Gemini-generated articles with GFM support.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98864" y="4023360"/>
            <a:ext cx="2743200" cy="1691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198864" y="4023360"/>
            <a:ext cx="64008" cy="16916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00032" y="4187952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Vaul + resizable-panels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0032" y="4526280"/>
            <a:ext cx="242316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Drawer &amp; split-pane layouts (article + notes side-by-side).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94A3B8"/>
                </a:solidFill>
                <a:latin typeface="Calibri"/>
              </a:rPr>
              <a:t>Design language: dark-first (#05050A), glassmorphic cards, indigo→purple gradients, Space Grotesk headings.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Frontend Architecture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06 · AI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Right model for the right job — Gemini + Perplexity.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486400" cy="402336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64008" cy="40233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12064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1F5F9"/>
                </a:solidFill>
                <a:latin typeface="Calibri"/>
              </a:rPr>
              <a:t>Gemini 2.5 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512064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366F1"/>
                </a:solidFill>
                <a:latin typeface="Calibri"/>
              </a:rPr>
              <a:t>Structured generation · reasoning · scoring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3310128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20040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Diagnostic question gen (easy → adv ladder)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" y="3694176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584448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Topic article generation (cached)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078224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968496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Multi-dimensional answer scoring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4462272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352544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Socratic follow-ups (vague / wrong / good / extend)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4846320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736592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Voice transcript → fluency, vocab, grammar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5230368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120640"/>
            <a:ext cx="48463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Synthesizes Perplexity results into a study 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103120"/>
            <a:ext cx="5120640" cy="402336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2103120"/>
            <a:ext cx="64008" cy="402336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2331720"/>
            <a:ext cx="475488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1F5F9"/>
                </a:solidFill>
                <a:latin typeface="Calibri"/>
              </a:rPr>
              <a:t>Perplexity Sonar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743200"/>
            <a:ext cx="47548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A855F7"/>
                </a:solidFill>
                <a:latin typeface="Calibri"/>
              </a:rPr>
              <a:t>Live web retrieval with citations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3408" y="3310128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3200400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Company × role interview pattern lookup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93408" y="3694176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0" y="3584448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Glassdoor / LeetCode / eng-blog citations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93408" y="4078224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3968496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Always fresh — no stale training-cutoff data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93408" y="4462272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58000" y="4352544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Cached into CompanyInsights table on first hit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93408" y="4846320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0" y="4736592"/>
            <a:ext cx="4480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F1F5F9"/>
                </a:solidFill>
                <a:latin typeface="Calibri"/>
              </a:rPr>
              <a:t>Fallback path when Gemini hits rate limits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AI Orchestration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07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Adaptive Learning Path — Green / Yellow + Diagnostic.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3657600" cy="23774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64008" cy="23774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1F5F9"/>
                </a:solidFill>
                <a:latin typeface="Calibri"/>
              </a:rPr>
              <a:t>01 · Role + Resume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32004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Pick target role. Optional resume → OCR → Gemini extracts skills, suggests role-fit cards.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103120"/>
            <a:ext cx="3657600" cy="23774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64008" cy="237744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33172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1F5F9"/>
                </a:solidFill>
                <a:latin typeface="Calibri"/>
              </a:rPr>
              <a:t>02 · Path Configurator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880360"/>
            <a:ext cx="32004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Hard-coded Green path for the role + Gemini-generated Yellow extensions. Drag-drop to commit.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103120"/>
            <a:ext cx="3657600" cy="23774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21040" y="2103120"/>
            <a:ext cx="64008" cy="2377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95360" y="2331720"/>
            <a:ext cx="3200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1F5F9"/>
                </a:solidFill>
                <a:latin typeface="Calibri"/>
              </a:rPr>
              <a:t>03 · Diagnostic Ladder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880360"/>
            <a:ext cx="3200400" cy="1463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Per topic: easy → intermediate → advanced. Stop on first fail. Classification feeds back into Green/Yellow.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Diagnostic outcome → list assignment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66360"/>
            <a:ext cx="3657600" cy="77724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5166360"/>
            <a:ext cx="45720" cy="7772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0B981"/>
                </a:solidFill>
                <a:latin typeface="Calibri"/>
              </a:rPr>
              <a:t>Score: ≤ Easy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3212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Weak  →  Green (must study)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5166360"/>
            <a:ext cx="3657600" cy="77724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5166360"/>
            <a:ext cx="45720" cy="7772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525780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366F1"/>
                </a:solidFill>
                <a:latin typeface="Calibri"/>
              </a:rPr>
              <a:t>Score: Intermediate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553212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Mid  →  Green (reinforce)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5166360"/>
            <a:ext cx="3657600" cy="77724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5166360"/>
            <a:ext cx="4572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525780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59E0B"/>
                </a:solidFill>
                <a:latin typeface="Calibri"/>
              </a:rPr>
              <a:t>Score: Advanced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532120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Expert  →  Yellow (optional)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Methodology ·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08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Socratic follow-ups + per-user skill vector.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SOCRATIC FOLLOW-UP LOOP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5303520" cy="6400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45720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79192"/>
            <a:ext cx="3657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366F1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679192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Base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953512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Pre-generated from topic + difficulty.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19272"/>
            <a:ext cx="5303520" cy="6400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319272"/>
            <a:ext cx="45720" cy="6400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3392424"/>
            <a:ext cx="3657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6366F1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92424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Student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666744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Captured + length-checked (≥20 chars).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32504"/>
            <a:ext cx="5303520" cy="6400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032504"/>
            <a:ext cx="45720" cy="6400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4105656"/>
            <a:ext cx="3657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A855F7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05656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Strategy 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79976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Vague / Wrong / Good / Extend → routes to one of 4 prompts.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745736"/>
            <a:ext cx="5303520" cy="6400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745736"/>
            <a:ext cx="45720" cy="6400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818888"/>
            <a:ext cx="3657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A855F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818888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Gemini follow-up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93208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ONE contextual probe based on the actual answer.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458968"/>
            <a:ext cx="5303520" cy="6400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" y="5458968"/>
            <a:ext cx="45720" cy="6400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532120"/>
            <a:ext cx="3657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10B981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532120"/>
            <a:ext cx="1828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Score +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806440"/>
            <a:ext cx="45720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Both base + follow-up answers are scored and feed back into UserSkillProfile.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USER SKILL PROFILE  (persistent vector)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2606040"/>
            <a:ext cx="54864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1F5F9"/>
                </a:solidFill>
                <a:latin typeface="Consolas"/>
              </a:rPr>
              <a:t>{user_id, topic, score 0–100, confidence, last_updated, history[]}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200400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Statistics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273552"/>
            <a:ext cx="3108960" cy="164592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60" y="3273552"/>
            <a:ext cx="2424988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292840" y="3200400"/>
            <a:ext cx="4572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alibri"/>
              </a:rPr>
              <a:t>78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3584448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ML Fundamentals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3657600"/>
            <a:ext cx="3108960" cy="164592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138160" y="3657600"/>
            <a:ext cx="1927555" cy="16459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92840" y="3584448"/>
            <a:ext cx="4572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alibri"/>
              </a:rPr>
              <a:t>62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968496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NLP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4041648"/>
            <a:ext cx="3108960" cy="164592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8138160" y="4041648"/>
            <a:ext cx="1274673" cy="1645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1292840" y="3968496"/>
            <a:ext cx="4572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alibri"/>
              </a:rPr>
              <a:t>41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352544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SQL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4425696"/>
            <a:ext cx="3108960" cy="164592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138160" y="4425696"/>
            <a:ext cx="2611526" cy="1645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1292840" y="4352544"/>
            <a:ext cx="4572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alibri"/>
              </a:rPr>
              <a:t>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736592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System Design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38160" y="4809744"/>
            <a:ext cx="3108960" cy="164592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138160" y="4809744"/>
            <a:ext cx="1025956" cy="164592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292840" y="4736592"/>
            <a:ext cx="4572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alibri"/>
              </a:rPr>
              <a:t>33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120640"/>
            <a:ext cx="20116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1F5F9"/>
                </a:solidFill>
                <a:latin typeface="Calibri"/>
              </a:rPr>
              <a:t>Python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5193792"/>
            <a:ext cx="3108960" cy="164592"/>
          </a:xfrm>
          <a:prstGeom prst="rect">
            <a:avLst/>
          </a:prstGeom>
          <a:solidFill>
            <a:srgbClr val="141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138160" y="5193792"/>
            <a:ext cx="2207361" cy="16459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292840" y="5120640"/>
            <a:ext cx="4572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F1F5F9"/>
                </a:solidFill>
                <a:latin typeface="Calibri"/>
              </a:rPr>
              <a:t>71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585216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1">
                <a:solidFill>
                  <a:srgbClr val="94A3B8"/>
                </a:solidFill>
                <a:latin typeface="Calibri"/>
              </a:rPr>
              <a:t>Every quiz, diagnostic, and interview writes back into this vector — driving the next question's difficulty and the next interview's topic mix.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Methodology · Profile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09 ·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Company Intelligence — Perplexity → Gemini → cached.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743200" cy="20116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" cy="20116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User picks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2377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Company + Role.
(Google × ML Engineer)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37560" y="3063240"/>
            <a:ext cx="20116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93008" y="2194560"/>
            <a:ext cx="2743200" cy="20116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93008" y="2194560"/>
            <a:ext cx="64008" cy="20116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721608" y="2377440"/>
            <a:ext cx="502920" cy="50292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21608" y="242316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15968" y="2450592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Perplexity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21608" y="3063240"/>
            <a:ext cx="2377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Sonar fetches live: Glassdoor, LeetCode, blogs, with citations.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190488" y="3063240"/>
            <a:ext cx="20116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45936" y="2194560"/>
            <a:ext cx="2743200" cy="20116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45936" y="2194560"/>
            <a:ext cx="64008" cy="2011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574536" y="237744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74536" y="242316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450592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Gemini synth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3063240"/>
            <a:ext cx="2377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Reshapes raw text into a ranked topic list + interview pattern summary.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043416" y="3063240"/>
            <a:ext cx="201168" cy="274320"/>
          </a:xfrm>
          <a:prstGeom prst="rightArrow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9198864" y="2194560"/>
            <a:ext cx="2743200" cy="20116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198864" y="2194560"/>
            <a:ext cx="64008" cy="2011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427464" y="237744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27464" y="2423160"/>
            <a:ext cx="502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1F5F9"/>
                </a:solidFill>
                <a:latin typeface="Calibr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450592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DB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3063240"/>
            <a:ext cx="237744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CompanyInsights row keyed by (company, role) — never re-fetched.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572000"/>
            <a:ext cx="10972800" cy="141732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" y="4572000"/>
            <a:ext cx="64008" cy="14173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55F7"/>
                </a:solidFill>
                <a:latin typeface="Calibri"/>
              </a:rPr>
              <a:t>Output → Ultra-personalized plan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1F5F9"/>
                </a:solidFill>
                <a:latin typeface="Calibri"/>
              </a:rPr>
              <a:t>Intersection of  (a) user's diagnostic weaknesses  ∩  (b) company's high-frequency topics  →  prioritized 5–10 topic study queue + a targeted mock-interview that draws ONLY from that intersection. Library grows with every new company a user searches.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Company Intelligence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10 · ENGINEERING · PROBLEMS WE SOLVED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Hard problems shipped — not just talked about.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53212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54864" cy="9601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Gemini JSON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514600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Multi-pass JSON parser (`_safe_parse_json` — 5 passes) handles trailing commas, markdown fences, partial outputs.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103120"/>
            <a:ext cx="553212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2103120"/>
            <a:ext cx="54864" cy="9601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10528" y="2212848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Path personalization with no history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14600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Hard-coded Green seeds per role + Gemini-generated Yellow extensions; cold-start solved without a recommender.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172968"/>
            <a:ext cx="553212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080" y="3172968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282696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Adaptive without infinite question banks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3584448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Progressive easy → intermediate → advanced ladder, stop on first fail. Classifies a topic in ≤3 questions.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172968"/>
            <a:ext cx="553212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172968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10528" y="3282696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Stale company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584448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Perplexity (live) → Gemini (synth) → DB cache. Fresh on first hit, instant thereafter; library grows organically.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42816"/>
            <a:ext cx="553212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242816"/>
            <a:ext cx="54864" cy="9601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1248" y="4352544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Real-time skill updates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654296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Every quiz / interview event writes to UserSkillProfile with history[]; trend (improve/decline/stable) computed on read.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242816"/>
            <a:ext cx="553212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242816"/>
            <a:ext cx="54864" cy="9601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528" y="4352544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Behavioral signals without multi-camera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528" y="4654296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face-api.js 68-point landmarks → head-pose / gaze proxy for posture today; schema future-proofed for multi-camera.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312664"/>
            <a:ext cx="553212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" y="5312664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1248" y="5422392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Body + voice analysis cost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724144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Run AFTER the interview, async, from stored transcript + behavioral_stats — never blocks the live session.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312664"/>
            <a:ext cx="5532120" cy="96012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309360" y="5312664"/>
            <a:ext cx="54864" cy="960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10528" y="5422392"/>
            <a:ext cx="52120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1F5F9"/>
                </a:solidFill>
                <a:latin typeface="Calibri"/>
              </a:rPr>
              <a:t>Follow-ups that actually feel adaptive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5724144"/>
            <a:ext cx="52120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Strategy classifier (vague/wrong/good/extend) routes to one of 4 Gemini prompts — answer-aware, not generic.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Problems Solved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11 · 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Best-in-class libraries chosen for adaptive UX.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788920" cy="402336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64008" cy="40233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366F1"/>
                </a:solidFill>
                <a:latin typeface="Calibri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2807208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React 18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3154680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044952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shadcn/ui + @radix-ui/*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3502152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392424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Framer Motion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" y="3849624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4128" y="3739896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@dnd-kit/core + sortable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197096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087368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Recharts + SVG rings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4544568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4128" y="4434840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TanStack Query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4892040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4782312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cmdk · vaul · resizable-panels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" y="5239512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24128" y="5129784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react-markdown + remark-gfm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68" y="5586984"/>
            <a:ext cx="73152" cy="7315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4128" y="5477256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lucide-react · react-hot-toast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38728" y="2103120"/>
            <a:ext cx="2788920" cy="402336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538728" y="2103120"/>
            <a:ext cx="64008" cy="402336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67328" y="228600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55F7"/>
                </a:solidFill>
                <a:latin typeface="Calibri"/>
              </a:rPr>
              <a:t>Backend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85616" y="2807208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22776" y="2697480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FastAPI (Python 3.11)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85616" y="3154680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22776" y="3044952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Pydantic v2 schemas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85616" y="3502152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22776" y="3392424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SQLAlchemy + Alembic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85616" y="3849624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22776" y="3739896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PostgreSQL (prod) / SQLite (dev)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85616" y="4197096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22776" y="4087368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JWT auth + role guards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85616" y="4544568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22776" y="4434840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pdfplumber (resume OCR)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85616" y="4892040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22776" y="4782312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httpx (async HTTP)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785616" y="5239512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22776" y="5129784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Redis (rate limits, cache)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85616" y="5586984"/>
            <a:ext cx="73152" cy="73152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922776" y="5477256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Uvicorn / Gunicorn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37376" y="2103120"/>
            <a:ext cx="2788920" cy="402336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37376" y="2103120"/>
            <a:ext cx="64008" cy="40233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65976" y="228600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AI / Agentic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84264" y="280720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21424" y="2697480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Gemini 2.5 Flash (JSON mode)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84264" y="315468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21424" y="3044952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Perplexity Sonar (live web)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84264" y="350215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821424" y="3392424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OpenAI Whisper (ASR)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84264" y="3849624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821424" y="3739896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face-api.js (gaze + 68 pts)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84264" y="4197096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21424" y="4087368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Custom prompt registry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684264" y="454456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821424" y="4434840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5-pass JSON parser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84264" y="4892040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821424" y="4782312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Strategy-routed follow-ups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684264" y="5239512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21424" y="5129784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Async post-hoc analysis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36024" y="2103120"/>
            <a:ext cx="2788920" cy="402336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336024" y="2103120"/>
            <a:ext cx="64008" cy="4023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564624" y="228600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DevOps &amp; Obs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82912" y="280720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720072" y="2697480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Docker · docker-compose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582912" y="315468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720072" y="3044952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GitHub Actions CI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82912" y="350215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720072" y="3392424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Vercel (frontend)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582912" y="3849624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720072" y="3739896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Render / Fly (backend)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82912" y="4197096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720072" y="4087368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Sentry (error tracking)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82912" y="454456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720072" y="4434840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PostHog (product analytics)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582912" y="4892040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720072" y="4782312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Cloudflare R2 (assets)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582912" y="5239512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720072" y="5129784"/>
            <a:ext cx="2286000" cy="34747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alibri"/>
              </a:rPr>
              <a:t>.env-driven config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Tech Stack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12 ·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Six tables — designed for adaptive learning + replay.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657600" cy="1828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" cy="1828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37744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6366F1"/>
                </a:solidFill>
                <a:latin typeface="Calibri"/>
              </a:rPr>
              <a:t>User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2898648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788920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id, email, password_hash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3227832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118104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target_role, onboarding_complete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3557016"/>
            <a:ext cx="64008" cy="640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4128" y="3447288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created_at, last_active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194560"/>
            <a:ext cx="3657600" cy="1828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34840" y="219456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237744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0B981"/>
                </a:solidFill>
                <a:latin typeface="Calibri"/>
              </a:rPr>
              <a:t>UserSkillProfile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1728" y="2898648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18888" y="2788920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user_id, topic, score (0–100)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322783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8888" y="3118104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confidence, last_updated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3557016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18888" y="3447288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history[] (trend signal)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194560"/>
            <a:ext cx="3657600" cy="1828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2194560"/>
            <a:ext cx="64008" cy="1828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58200" y="2377440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55F7"/>
                </a:solidFill>
                <a:latin typeface="Calibri"/>
              </a:rPr>
              <a:t>LearningPath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76488" y="2898648"/>
            <a:ext cx="64008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13648" y="2788920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user_id, role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76488" y="3227832"/>
            <a:ext cx="64008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13648" y="3118104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green_topics[], yellow_topics[]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76488" y="3557016"/>
            <a:ext cx="64008" cy="64008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13648" y="3447288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time_horizon, status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187952"/>
            <a:ext cx="3657600" cy="1828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0080" y="4187952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437083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59E0B"/>
                </a:solidFill>
                <a:latin typeface="Calibri"/>
              </a:rPr>
              <a:t>InterviewSession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6968" y="489204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4128" y="4782312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user_id, mode, topics_covered[]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86968" y="5221224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24128" y="5111496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transcript JSON, report JSON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" y="5550408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24128" y="5440680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behavioral_stats (extensible)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34840" y="4187952"/>
            <a:ext cx="3657600" cy="1828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434840" y="4187952"/>
            <a:ext cx="64008" cy="1828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663440" y="437083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B6D4"/>
                </a:solidFill>
                <a:latin typeface="Calibri"/>
              </a:rPr>
              <a:t>CompanyInsights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81728" y="4892040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18888" y="4782312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company × role (unique)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81728" y="5221224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18888" y="5111496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topics[], patterns, summary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81728" y="5550408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18888" y="5440680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source_data, analyzed_at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4187952"/>
            <a:ext cx="3657600" cy="1828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229600" y="4187952"/>
            <a:ext cx="64008" cy="1828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58200" y="4370832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EF4444"/>
                </a:solidFill>
                <a:latin typeface="Calibri"/>
              </a:rPr>
              <a:t>TopicArticle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76488" y="4892040"/>
            <a:ext cx="64008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613648" y="4782312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(topic, job_role) key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76488" y="5221224"/>
            <a:ext cx="64008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613648" y="5111496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markdown_body (Gemini)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6488" y="5550408"/>
            <a:ext cx="64008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613648" y="5440680"/>
            <a:ext cx="31546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F1F5F9"/>
                </a:solidFill>
                <a:latin typeface="Consolas"/>
              </a:rPr>
              <a:t>generated_at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Data Model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13 · BEHAVIORAL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Body language + communication — async, after the interview.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SIGNALS CAPTURED  (live, low-cost)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06040"/>
            <a:ext cx="5486400" cy="548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724912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Gaze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24912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Off-camera % over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09544"/>
            <a:ext cx="5486400" cy="548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209544"/>
            <a:ext cx="45720" cy="5486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328416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68-point landmarks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328416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Head pose proxy for posture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13048"/>
            <a:ext cx="5486400" cy="548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813048"/>
            <a:ext cx="45720" cy="54864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3931920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Expression timeline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931920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Calm / Stressed / Confident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416552"/>
            <a:ext cx="5486400" cy="548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416552"/>
            <a:ext cx="45720" cy="5486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535424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Proctor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535424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Multiple faces, looking-away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20056"/>
            <a:ext cx="5486400" cy="54864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5020056"/>
            <a:ext cx="4572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138928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Audio capture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5138928"/>
            <a:ext cx="31089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Whisper transcript + timestamps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194560"/>
            <a:ext cx="53035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POST-INTERVIEW REPORT  (async)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606040"/>
            <a:ext cx="5303520" cy="50292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2606040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80" y="2697480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Speaking 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2697480"/>
            <a:ext cx="2834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WPM from transcript ÷ duration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172968"/>
            <a:ext cx="5303520" cy="50292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3172968"/>
            <a:ext cx="45720" cy="5029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3264408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Filler words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3264408"/>
            <a:ext cx="2834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um / uh / like / you-know count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739896"/>
            <a:ext cx="5303520" cy="50292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0" y="3739896"/>
            <a:ext cx="45720" cy="5029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3831336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Vocabulary richness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3831336"/>
            <a:ext cx="2834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Gemini lexical-diversity score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4306824"/>
            <a:ext cx="5303520" cy="50292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400800" y="4306824"/>
            <a:ext cx="45720" cy="50292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4398264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Grammar &amp; fluency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4398264"/>
            <a:ext cx="2834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Gemini analysis with quoted moments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873752"/>
            <a:ext cx="5303520" cy="50292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4873752"/>
            <a:ext cx="4572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83680" y="4965192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Eye contact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4965192"/>
            <a:ext cx="2834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From gaze timeline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440680"/>
            <a:ext cx="5303520" cy="502920"/>
          </a:xfrm>
          <a:prstGeom prst="rect">
            <a:avLst/>
          </a:prstGeom>
          <a:solidFill>
            <a:srgbClr val="141424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400800" y="5440680"/>
            <a:ext cx="45720" cy="5029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5532120"/>
            <a:ext cx="219456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1F5F9"/>
                </a:solidFill>
                <a:latin typeface="Calibri"/>
              </a:rPr>
              <a:t>Posture proxy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5532120"/>
            <a:ext cx="2834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Head-tilt + face-position heuristics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4A3B8"/>
                </a:solidFill>
                <a:latin typeface="Calibri"/>
              </a:rPr>
              <a:t>Architecture is extensible — behavioral_stats is a JSON column ready for multi-camera body-keypoint streams.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Behavioral Analysis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A855F7"/>
                </a:solidFill>
                <a:latin typeface="Calibri"/>
              </a:rPr>
              <a:t>14 ·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Phased delivery — value at every step.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4114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280160" y="2148840"/>
            <a:ext cx="27432" cy="40233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15568" y="2194560"/>
            <a:ext cx="365760" cy="36576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221992"/>
            <a:ext cx="36576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1F5F9"/>
                </a:solidFill>
                <a:latin typeface="Calibri"/>
              </a:rPr>
              <a:t>P0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148840"/>
            <a:ext cx="9784080" cy="685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828800" y="2148840"/>
            <a:ext cx="45720" cy="6858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224028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Onboarding · Resume OCR · Path Configurator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40280"/>
            <a:ext cx="5852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Role pick, PDF→Gemini analysis, Green/Yellow drag-drop.</a:t>
            </a:r>
          </a:p>
        </p:txBody>
      </p:sp>
      <p:sp>
        <p:nvSpPr>
          <p:cNvPr id="14" name="Oval 13"/>
          <p:cNvSpPr/>
          <p:nvPr/>
        </p:nvSpPr>
        <p:spPr>
          <a:xfrm>
            <a:off x="1115568" y="3017520"/>
            <a:ext cx="365760" cy="365760"/>
          </a:xfrm>
          <a:prstGeom prst="ellipse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3044952"/>
            <a:ext cx="36576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1F5F9"/>
                </a:solidFill>
                <a:latin typeface="Calibri"/>
              </a:rPr>
              <a:t>P1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971800"/>
            <a:ext cx="9784080" cy="685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2971800"/>
            <a:ext cx="45720" cy="68580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306324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Adaptive Diagnostic · Articles · Mini-Quizzes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063240"/>
            <a:ext cx="5852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Progressive Q ladder, cached articles, 5-Q quizzes, skill-meter writes.</a:t>
            </a:r>
          </a:p>
        </p:txBody>
      </p:sp>
      <p:sp>
        <p:nvSpPr>
          <p:cNvPr id="20" name="Oval 19"/>
          <p:cNvSpPr/>
          <p:nvPr/>
        </p:nvSpPr>
        <p:spPr>
          <a:xfrm>
            <a:off x="1115568" y="384048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3867912"/>
            <a:ext cx="36576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1F5F9"/>
                </a:solidFill>
                <a:latin typeface="Calibri"/>
              </a:rPr>
              <a:t>P2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3794760"/>
            <a:ext cx="9784080" cy="685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28800" y="3794760"/>
            <a:ext cx="45720" cy="685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11680" y="388620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Time-Based + Company-Specific Personalization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886200"/>
            <a:ext cx="5852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24h / 1w / 1m / 3m / 6m re-ranking. Perplexity company intelligence with cache.</a:t>
            </a:r>
          </a:p>
        </p:txBody>
      </p:sp>
      <p:sp>
        <p:nvSpPr>
          <p:cNvPr id="26" name="Oval 25"/>
          <p:cNvSpPr/>
          <p:nvPr/>
        </p:nvSpPr>
        <p:spPr>
          <a:xfrm>
            <a:off x="1115568" y="46634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15568" y="4690872"/>
            <a:ext cx="36576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1F5F9"/>
                </a:solidFill>
                <a:latin typeface="Calibri"/>
              </a:rPr>
              <a:t>P3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0" y="4617720"/>
            <a:ext cx="9784080" cy="685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828800" y="4617720"/>
            <a:ext cx="45720" cy="685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011680" y="470916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Body Language + Communication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709160"/>
            <a:ext cx="5852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Gaze, expression, voice pace, filler words, fluency — async post-interview report.</a:t>
            </a:r>
          </a:p>
        </p:txBody>
      </p:sp>
      <p:sp>
        <p:nvSpPr>
          <p:cNvPr id="32" name="Oval 31"/>
          <p:cNvSpPr/>
          <p:nvPr/>
        </p:nvSpPr>
        <p:spPr>
          <a:xfrm>
            <a:off x="1115568" y="5486400"/>
            <a:ext cx="365760" cy="3657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15568" y="5513832"/>
            <a:ext cx="365760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1F5F9"/>
                </a:solidFill>
                <a:latin typeface="Calibri"/>
              </a:rPr>
              <a:t>P4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5440680"/>
            <a:ext cx="9784080" cy="68580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828800" y="5440680"/>
            <a:ext cx="45720" cy="6858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11680" y="5532120"/>
            <a:ext cx="3657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Full-Syllabus Interviews + Trend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532120"/>
            <a:ext cx="585216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Quick full interview mode + history compare across past sessions.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Roadmap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855F7"/>
                </a:solidFill>
                <a:latin typeface="Calibri"/>
              </a:rPr>
              <a:t>15 · WHY THIS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1F5F9"/>
                </a:solidFill>
                <a:latin typeface="Calibri"/>
              </a:rPr>
              <a:t>An interview coach that learns you faster than you learn the syllabus.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3703320" cy="13258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743200"/>
            <a:ext cx="54864" cy="13258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907792"/>
            <a:ext cx="3337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Per-user skill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46120"/>
            <a:ext cx="33375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Compounds across every activity — no cold-start after day 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53128" y="2743200"/>
            <a:ext cx="3703320" cy="13258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53128" y="2743200"/>
            <a:ext cx="54864" cy="13258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54296" y="2907792"/>
            <a:ext cx="3337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Two-AI orchestration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246120"/>
            <a:ext cx="33375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Gemini for reasoning, Perplexity for freshness — playing to strengths.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6" y="2743200"/>
            <a:ext cx="3703320" cy="13258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66176" y="2743200"/>
            <a:ext cx="54864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67344" y="2907792"/>
            <a:ext cx="3337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Socratic, not scripted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3246120"/>
            <a:ext cx="33375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Follow-ups respond to *this* answer, not a template.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33672"/>
            <a:ext cx="3703320" cy="13258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4233672"/>
            <a:ext cx="54864" cy="1325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398264"/>
            <a:ext cx="3337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Holistic interview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736592"/>
            <a:ext cx="33375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Tech + behavioral + body + voice in one report.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53128" y="4233672"/>
            <a:ext cx="3703320" cy="13258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53128" y="4233672"/>
            <a:ext cx="54864" cy="13258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54296" y="4398264"/>
            <a:ext cx="3337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Time- &amp; company-aware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736592"/>
            <a:ext cx="33375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Replans the syllabus for a 24h crunch or a Google ML-E role.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66176" y="4233672"/>
            <a:ext cx="3703320" cy="1325880"/>
          </a:xfrm>
          <a:prstGeom prst="rect">
            <a:avLst/>
          </a:prstGeom>
          <a:solidFill>
            <a:srgbClr val="0E0E1A"/>
          </a:solidFill>
          <a:ln w="9525">
            <a:solidFill>
              <a:srgbClr val="1F1F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66176" y="4233672"/>
            <a:ext cx="54864" cy="132588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67344" y="4398264"/>
            <a:ext cx="333756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1F5F9"/>
                </a:solidFill>
                <a:latin typeface="Calibri"/>
              </a:rPr>
              <a:t>Extensible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736592"/>
            <a:ext cx="33375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Multi-camera, more models, more roles — slot in without schema breaks.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A855F7"/>
                </a:solidFill>
                <a:latin typeface="Calibri"/>
              </a:rPr>
              <a:t>Thank you  ·  Questions?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Calibri"/>
              </a:rPr>
              <a:t>Nitin  ·  InterviewVault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2BFC9A-0E3D-46A1-BA01-91B138B24AC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6b08866-fb1a-468c-986d-32cd5936009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2202</Words>
  <Application>Microsoft Office PowerPoint</Application>
  <PresentationFormat>Widescreen</PresentationFormat>
  <Paragraphs>374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Aryan Sonawane</cp:lastModifiedBy>
  <cp:revision>2</cp:revision>
  <dcterms:created xsi:type="dcterms:W3CDTF">2013-01-27T09:14:16Z</dcterms:created>
  <dcterms:modified xsi:type="dcterms:W3CDTF">2026-05-20T12:55:05Z</dcterms:modified>
  <cp:category/>
</cp:coreProperties>
</file>